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8" r:id="rId4"/>
    <p:sldId id="259" r:id="rId5"/>
    <p:sldId id="261" r:id="rId6"/>
    <p:sldId id="262" r:id="rId7"/>
    <p:sldId id="263" r:id="rId8"/>
    <p:sldId id="264"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3" d="100"/>
          <a:sy n="93" d="100"/>
        </p:scale>
        <p:origin x="1236"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hyperlink" Target="https://www.youtube.com/watch?v=NDgqqPvMn0U" TargetMode="External"/><Relationship Id="rId5" Type="http://schemas.openxmlformats.org/officeDocument/2006/relationships/image" Target="../media/image4.svg"/><Relationship Id="rId4" Type="http://schemas.openxmlformats.org/officeDocument/2006/relationships/image" Target="../media/image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5" Type="http://schemas.openxmlformats.org/officeDocument/2006/relationships/hyperlink" Target="https://www.youtube.com/watch?v=NDgqqPvMn0U" TargetMode="External"/><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DD5074-BE7A-4190-9138-D687EDC072A0}"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F6510B8B-4678-4861-8650-2C253440ACDA}">
      <dgm:prSet/>
      <dgm:spPr/>
      <dgm:t>
        <a:bodyPr/>
        <a:lstStyle/>
        <a:p>
          <a:r>
            <a:rPr lang="en-GB"/>
            <a:t>Let’s watch a video</a:t>
          </a:r>
          <a:endParaRPr lang="en-US"/>
        </a:p>
      </dgm:t>
    </dgm:pt>
    <dgm:pt modelId="{A9885375-3664-45F5-B11F-2DBA8F397351}" type="parTrans" cxnId="{3C36070D-EDCD-486A-8A69-A4CDFA604094}">
      <dgm:prSet/>
      <dgm:spPr/>
      <dgm:t>
        <a:bodyPr/>
        <a:lstStyle/>
        <a:p>
          <a:endParaRPr lang="en-US"/>
        </a:p>
      </dgm:t>
    </dgm:pt>
    <dgm:pt modelId="{76282952-F66E-42BE-A113-E963FD213332}" type="sibTrans" cxnId="{3C36070D-EDCD-486A-8A69-A4CDFA604094}">
      <dgm:prSet/>
      <dgm:spPr/>
      <dgm:t>
        <a:bodyPr/>
        <a:lstStyle/>
        <a:p>
          <a:endParaRPr lang="en-US"/>
        </a:p>
      </dgm:t>
    </dgm:pt>
    <dgm:pt modelId="{E8D32D77-8D2C-46BF-865E-CEC15585359B}">
      <dgm:prSet/>
      <dgm:spPr/>
      <dgm:t>
        <a:bodyPr/>
        <a:lstStyle/>
        <a:p>
          <a:r>
            <a:rPr lang="en-GB">
              <a:hlinkClick xmlns:r="http://schemas.openxmlformats.org/officeDocument/2006/relationships" r:id="rId1"/>
            </a:rPr>
            <a:t>https://www.youtube.com/watch?v=NDgqqPvMn0U</a:t>
          </a:r>
          <a:endParaRPr lang="en-US"/>
        </a:p>
      </dgm:t>
    </dgm:pt>
    <dgm:pt modelId="{BD96BA9E-42FA-4744-ABF9-6A5A0202396B}" type="parTrans" cxnId="{0667A0F3-D301-4E12-B57D-F28C537FCE93}">
      <dgm:prSet/>
      <dgm:spPr/>
      <dgm:t>
        <a:bodyPr/>
        <a:lstStyle/>
        <a:p>
          <a:endParaRPr lang="en-US"/>
        </a:p>
      </dgm:t>
    </dgm:pt>
    <dgm:pt modelId="{14589F3A-A8EF-4BE4-AE79-E53868D9F8B6}" type="sibTrans" cxnId="{0667A0F3-D301-4E12-B57D-F28C537FCE93}">
      <dgm:prSet/>
      <dgm:spPr/>
      <dgm:t>
        <a:bodyPr/>
        <a:lstStyle/>
        <a:p>
          <a:endParaRPr lang="en-US"/>
        </a:p>
      </dgm:t>
    </dgm:pt>
    <dgm:pt modelId="{AD85C63A-FE2D-45BD-A29E-A2F39D434658}" type="pres">
      <dgm:prSet presAssocID="{AADD5074-BE7A-4190-9138-D687EDC072A0}" presName="root" presStyleCnt="0">
        <dgm:presLayoutVars>
          <dgm:dir/>
          <dgm:resizeHandles val="exact"/>
        </dgm:presLayoutVars>
      </dgm:prSet>
      <dgm:spPr/>
    </dgm:pt>
    <dgm:pt modelId="{3CEE2D77-276B-4974-8459-3608B2755E97}" type="pres">
      <dgm:prSet presAssocID="{F6510B8B-4678-4861-8650-2C253440ACDA}" presName="compNode" presStyleCnt="0"/>
      <dgm:spPr/>
    </dgm:pt>
    <dgm:pt modelId="{D4A5F067-DD75-4ECC-984F-5D2FF8F12AB3}" type="pres">
      <dgm:prSet presAssocID="{F6510B8B-4678-4861-8650-2C253440ACDA}" presName="iconRect" presStyleLbl="node1" presStyleIdx="0" presStyleCnt="2"/>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Video camera"/>
        </a:ext>
      </dgm:extLst>
    </dgm:pt>
    <dgm:pt modelId="{42BFE687-C175-4585-855A-9BC95EE7185F}" type="pres">
      <dgm:prSet presAssocID="{F6510B8B-4678-4861-8650-2C253440ACDA}" presName="spaceRect" presStyleCnt="0"/>
      <dgm:spPr/>
    </dgm:pt>
    <dgm:pt modelId="{01AE4B58-524C-4053-87B2-806EB63305F7}" type="pres">
      <dgm:prSet presAssocID="{F6510B8B-4678-4861-8650-2C253440ACDA}" presName="textRect" presStyleLbl="revTx" presStyleIdx="0" presStyleCnt="2">
        <dgm:presLayoutVars>
          <dgm:chMax val="1"/>
          <dgm:chPref val="1"/>
        </dgm:presLayoutVars>
      </dgm:prSet>
      <dgm:spPr/>
    </dgm:pt>
    <dgm:pt modelId="{87C64D9C-1676-46DE-A4BF-E2455F862992}" type="pres">
      <dgm:prSet presAssocID="{76282952-F66E-42BE-A113-E963FD213332}" presName="sibTrans" presStyleCnt="0"/>
      <dgm:spPr/>
    </dgm:pt>
    <dgm:pt modelId="{EEBBC93C-17BB-48CF-9E97-DD9185347964}" type="pres">
      <dgm:prSet presAssocID="{E8D32D77-8D2C-46BF-865E-CEC15585359B}" presName="compNode" presStyleCnt="0"/>
      <dgm:spPr/>
    </dgm:pt>
    <dgm:pt modelId="{F42C5FD5-ED8A-4167-987C-BA4578579EC3}" type="pres">
      <dgm:prSet presAssocID="{E8D32D77-8D2C-46BF-865E-CEC15585359B}" presName="iconRect" presStyleLbl="node1" presStyleIdx="1" presStyleCnt="2"/>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Earth Globe Americas"/>
        </a:ext>
      </dgm:extLst>
    </dgm:pt>
    <dgm:pt modelId="{164F5AED-CBA1-4BB7-99B7-1422A466ED81}" type="pres">
      <dgm:prSet presAssocID="{E8D32D77-8D2C-46BF-865E-CEC15585359B}" presName="spaceRect" presStyleCnt="0"/>
      <dgm:spPr/>
    </dgm:pt>
    <dgm:pt modelId="{D54B6398-820B-489F-8B79-7230A491CEBE}" type="pres">
      <dgm:prSet presAssocID="{E8D32D77-8D2C-46BF-865E-CEC15585359B}" presName="textRect" presStyleLbl="revTx" presStyleIdx="1" presStyleCnt="2">
        <dgm:presLayoutVars>
          <dgm:chMax val="1"/>
          <dgm:chPref val="1"/>
        </dgm:presLayoutVars>
      </dgm:prSet>
      <dgm:spPr/>
    </dgm:pt>
  </dgm:ptLst>
  <dgm:cxnLst>
    <dgm:cxn modelId="{3C36070D-EDCD-486A-8A69-A4CDFA604094}" srcId="{AADD5074-BE7A-4190-9138-D687EDC072A0}" destId="{F6510B8B-4678-4861-8650-2C253440ACDA}" srcOrd="0" destOrd="0" parTransId="{A9885375-3664-45F5-B11F-2DBA8F397351}" sibTransId="{76282952-F66E-42BE-A113-E963FD213332}"/>
    <dgm:cxn modelId="{3D5DDF67-E84E-4E97-BF9D-6EB5ED281DE8}" type="presOf" srcId="{AADD5074-BE7A-4190-9138-D687EDC072A0}" destId="{AD85C63A-FE2D-45BD-A29E-A2F39D434658}" srcOrd="0" destOrd="0" presId="urn:microsoft.com/office/officeart/2018/2/layout/IconLabelList"/>
    <dgm:cxn modelId="{2995D27A-6C96-43FC-B9D2-7240512DBE8F}" type="presOf" srcId="{F6510B8B-4678-4861-8650-2C253440ACDA}" destId="{01AE4B58-524C-4053-87B2-806EB63305F7}" srcOrd="0" destOrd="0" presId="urn:microsoft.com/office/officeart/2018/2/layout/IconLabelList"/>
    <dgm:cxn modelId="{E1325BB9-B899-4389-9DAC-CD2A730FF819}" type="presOf" srcId="{E8D32D77-8D2C-46BF-865E-CEC15585359B}" destId="{D54B6398-820B-489F-8B79-7230A491CEBE}" srcOrd="0" destOrd="0" presId="urn:microsoft.com/office/officeart/2018/2/layout/IconLabelList"/>
    <dgm:cxn modelId="{0667A0F3-D301-4E12-B57D-F28C537FCE93}" srcId="{AADD5074-BE7A-4190-9138-D687EDC072A0}" destId="{E8D32D77-8D2C-46BF-865E-CEC15585359B}" srcOrd="1" destOrd="0" parTransId="{BD96BA9E-42FA-4744-ABF9-6A5A0202396B}" sibTransId="{14589F3A-A8EF-4BE4-AE79-E53868D9F8B6}"/>
    <dgm:cxn modelId="{C269FC73-2CDB-4256-834D-723C85ADD349}" type="presParOf" srcId="{AD85C63A-FE2D-45BD-A29E-A2F39D434658}" destId="{3CEE2D77-276B-4974-8459-3608B2755E97}" srcOrd="0" destOrd="0" presId="urn:microsoft.com/office/officeart/2018/2/layout/IconLabelList"/>
    <dgm:cxn modelId="{7B84ECEA-E2EA-4733-91FD-C3344047D1F1}" type="presParOf" srcId="{3CEE2D77-276B-4974-8459-3608B2755E97}" destId="{D4A5F067-DD75-4ECC-984F-5D2FF8F12AB3}" srcOrd="0" destOrd="0" presId="urn:microsoft.com/office/officeart/2018/2/layout/IconLabelList"/>
    <dgm:cxn modelId="{DD29B5F5-B94F-484C-A831-51A29F1E79E6}" type="presParOf" srcId="{3CEE2D77-276B-4974-8459-3608B2755E97}" destId="{42BFE687-C175-4585-855A-9BC95EE7185F}" srcOrd="1" destOrd="0" presId="urn:microsoft.com/office/officeart/2018/2/layout/IconLabelList"/>
    <dgm:cxn modelId="{8C700FBE-285F-4F1B-815D-30A252582EDE}" type="presParOf" srcId="{3CEE2D77-276B-4974-8459-3608B2755E97}" destId="{01AE4B58-524C-4053-87B2-806EB63305F7}" srcOrd="2" destOrd="0" presId="urn:microsoft.com/office/officeart/2018/2/layout/IconLabelList"/>
    <dgm:cxn modelId="{E96BB995-4A20-4809-BA83-DB6E69FC1D08}" type="presParOf" srcId="{AD85C63A-FE2D-45BD-A29E-A2F39D434658}" destId="{87C64D9C-1676-46DE-A4BF-E2455F862992}" srcOrd="1" destOrd="0" presId="urn:microsoft.com/office/officeart/2018/2/layout/IconLabelList"/>
    <dgm:cxn modelId="{1C71EB57-A563-4D45-8C64-6668C103F70F}" type="presParOf" srcId="{AD85C63A-FE2D-45BD-A29E-A2F39D434658}" destId="{EEBBC93C-17BB-48CF-9E97-DD9185347964}" srcOrd="2" destOrd="0" presId="urn:microsoft.com/office/officeart/2018/2/layout/IconLabelList"/>
    <dgm:cxn modelId="{C0AD1997-E1B2-4FA8-A92C-D5C0A3D75C57}" type="presParOf" srcId="{EEBBC93C-17BB-48CF-9E97-DD9185347964}" destId="{F42C5FD5-ED8A-4167-987C-BA4578579EC3}" srcOrd="0" destOrd="0" presId="urn:microsoft.com/office/officeart/2018/2/layout/IconLabelList"/>
    <dgm:cxn modelId="{94B79899-32BB-4A74-8B3D-434B93C21464}" type="presParOf" srcId="{EEBBC93C-17BB-48CF-9E97-DD9185347964}" destId="{164F5AED-CBA1-4BB7-99B7-1422A466ED81}" srcOrd="1" destOrd="0" presId="urn:microsoft.com/office/officeart/2018/2/layout/IconLabelList"/>
    <dgm:cxn modelId="{77BBD24B-5700-4D84-8656-F377ED4AEAD4}" type="presParOf" srcId="{EEBBC93C-17BB-48CF-9E97-DD9185347964}" destId="{D54B6398-820B-489F-8B79-7230A491CEB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5F067-DD75-4ECC-984F-5D2FF8F12AB3}">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AE4B58-524C-4053-87B2-806EB63305F7}">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GB" sz="1500" kern="1200"/>
            <a:t>Let’s watch a video</a:t>
          </a:r>
          <a:endParaRPr lang="en-US" sz="1500" kern="1200"/>
        </a:p>
      </dsp:txBody>
      <dsp:txXfrm>
        <a:off x="765914" y="2943510"/>
        <a:ext cx="4320000" cy="720000"/>
      </dsp:txXfrm>
    </dsp:sp>
    <dsp:sp modelId="{F42C5FD5-ED8A-4167-987C-BA4578579EC3}">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4B6398-820B-489F-8B79-7230A491CEBE}">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GB" sz="1500" kern="1200">
              <a:hlinkClick xmlns:r="http://schemas.openxmlformats.org/officeDocument/2006/relationships" r:id="rId5"/>
            </a:rPr>
            <a:t>https://www.youtube.com/watch?v=NDgqqPvMn0U</a:t>
          </a:r>
          <a:endParaRPr lang="en-US" sz="1500" kern="1200"/>
        </a:p>
      </dsp:txBody>
      <dsp:txXfrm>
        <a:off x="5841914" y="2943510"/>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9DE2-ED61-157A-1DFA-9930CAC6ECD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01A63CDD-D238-9FE1-94EF-303CBEDA5F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E1C25D3-C194-0DD7-F6E5-4C73B3DA98BB}"/>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5" name="Footer Placeholder 4">
            <a:extLst>
              <a:ext uri="{FF2B5EF4-FFF2-40B4-BE49-F238E27FC236}">
                <a16:creationId xmlns:a16="http://schemas.microsoft.com/office/drawing/2014/main" id="{63576258-C7A6-2071-44B1-D2C836B188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CC93C5-09E9-0CE9-3D53-08E15C206C39}"/>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1444157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44878-6502-A762-5AFD-C476D510E63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377583C-95E7-E68E-40A5-414D8383FA9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8E22BF7-ACEF-10E0-ABE4-75C9474C94AD}"/>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5" name="Footer Placeholder 4">
            <a:extLst>
              <a:ext uri="{FF2B5EF4-FFF2-40B4-BE49-F238E27FC236}">
                <a16:creationId xmlns:a16="http://schemas.microsoft.com/office/drawing/2014/main" id="{23C8B5F0-A946-29CA-74F6-77AC47280F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CD930A-450E-7302-0A41-4E15556574F1}"/>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111667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7AA44-47C6-299C-CA70-C182CCF8578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CAA659AF-D36F-2E71-2043-1A7A659790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939E02C-F6ED-F34E-8937-70CCB8CD38E2}"/>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5" name="Footer Placeholder 4">
            <a:extLst>
              <a:ext uri="{FF2B5EF4-FFF2-40B4-BE49-F238E27FC236}">
                <a16:creationId xmlns:a16="http://schemas.microsoft.com/office/drawing/2014/main" id="{0402F89C-C1BF-1AE9-2C89-B3FA60B152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A11FDE-64C1-C3C0-FF41-D76325A4D469}"/>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2615136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61D50-F5C2-DC35-2609-E7D26C182CA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E446303-7B16-959D-3BBB-D1BED74BC89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FCD65E0-08B6-8BE8-5297-CC9CE25416D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E58EFA6E-FBE6-C410-EC98-8C17DDAEBB5C}"/>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6" name="Footer Placeholder 5">
            <a:extLst>
              <a:ext uri="{FF2B5EF4-FFF2-40B4-BE49-F238E27FC236}">
                <a16:creationId xmlns:a16="http://schemas.microsoft.com/office/drawing/2014/main" id="{246EA5C5-D24B-408C-CD99-4DBB37205F8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1747722-A367-7680-E612-95992AA9F245}"/>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1477791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812A-E624-DFA1-27B5-4B150B88A8A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B13CAAA3-ECDF-A799-B178-CB5ABE9BFC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77FC3A-500E-9618-6C28-AF10D223BA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6A8FDC27-339F-1AF3-8612-1CC0258946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43E8C03-2363-8C7D-079E-98B07FBEBE1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D6BE740-18EE-A8FE-B864-0FE72068BC16}"/>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8" name="Footer Placeholder 7">
            <a:extLst>
              <a:ext uri="{FF2B5EF4-FFF2-40B4-BE49-F238E27FC236}">
                <a16:creationId xmlns:a16="http://schemas.microsoft.com/office/drawing/2014/main" id="{101BBF93-189D-4093-C10A-B3EC478EEA2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6A6E724-D4ED-4FBE-8365-F16C07958BE5}"/>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396528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62E3E-7880-A0BD-FF45-D01E79D2010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00B2683E-11C3-E9D4-24B7-0FAA6A647C05}"/>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4" name="Footer Placeholder 3">
            <a:extLst>
              <a:ext uri="{FF2B5EF4-FFF2-40B4-BE49-F238E27FC236}">
                <a16:creationId xmlns:a16="http://schemas.microsoft.com/office/drawing/2014/main" id="{DB365D18-DEA0-04DF-9A73-8E03B2D860B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2498A52-F600-CF20-CD66-FC7B092A4D61}"/>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4288520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F76749-E460-97D2-20B8-CC1C11E34512}"/>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3" name="Footer Placeholder 2">
            <a:extLst>
              <a:ext uri="{FF2B5EF4-FFF2-40B4-BE49-F238E27FC236}">
                <a16:creationId xmlns:a16="http://schemas.microsoft.com/office/drawing/2014/main" id="{919D9474-7A8C-4127-1E4A-F96F26F063A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849CD82-516E-8A03-D9D2-DD4064A85676}"/>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402766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EF1D-E825-895F-0CBA-F5EAA92FB48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86E1456-61C9-1EBB-6A35-5089282C81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2D2D94F-770B-D642-2968-5AF4DB15B2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4AEE8BC-4EA9-657A-63F9-6BC9384E5E02}"/>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6" name="Footer Placeholder 5">
            <a:extLst>
              <a:ext uri="{FF2B5EF4-FFF2-40B4-BE49-F238E27FC236}">
                <a16:creationId xmlns:a16="http://schemas.microsoft.com/office/drawing/2014/main" id="{173B803B-A1F5-1D89-2EB7-0095512D0C3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5643FCF-2E96-7194-EB77-DD25D48E7171}"/>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888016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D5D3B-D1AB-4BF0-6F55-B9529446202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7762104-6D13-695E-01BB-07C95E7C1B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46A3086-F14F-1C77-E73A-FCA9837F7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0354EA2-BE04-9019-D7A0-1FDA4090BCE2}"/>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6" name="Footer Placeholder 5">
            <a:extLst>
              <a:ext uri="{FF2B5EF4-FFF2-40B4-BE49-F238E27FC236}">
                <a16:creationId xmlns:a16="http://schemas.microsoft.com/office/drawing/2014/main" id="{0E3A141C-C29D-BED8-8DBA-5C99413246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219392-2E81-26C3-ED38-F69B9B9BD0D0}"/>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833272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8CCF9-61A8-A9D5-55C7-193D6A04A8B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4491FC3-F08F-E584-0649-82B6FA876E6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54C4260-35F9-163A-178A-B846B9F6DF8C}"/>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5" name="Footer Placeholder 4">
            <a:extLst>
              <a:ext uri="{FF2B5EF4-FFF2-40B4-BE49-F238E27FC236}">
                <a16:creationId xmlns:a16="http://schemas.microsoft.com/office/drawing/2014/main" id="{BD782CDC-EEE4-4120-9616-E88BA453BD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03E8E3-FCF2-13A7-208F-64EEAAA025FA}"/>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3346968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38CA40-B94F-43AB-3E70-D38A440F5B27}"/>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0E3751B-5772-3F4C-2E51-EB0A11F3B52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BDEA3C-C85E-C98D-C6A6-0C1F053500F2}"/>
              </a:ext>
            </a:extLst>
          </p:cNvPr>
          <p:cNvSpPr>
            <a:spLocks noGrp="1"/>
          </p:cNvSpPr>
          <p:nvPr>
            <p:ph type="dt" sz="half" idx="10"/>
          </p:nvPr>
        </p:nvSpPr>
        <p:spPr/>
        <p:txBody>
          <a:bodyPr/>
          <a:lstStyle/>
          <a:p>
            <a:fld id="{27D66113-6BA7-4828-99F0-E0FCD0DDD9A0}" type="datetimeFigureOut">
              <a:rPr lang="en-GB" smtClean="0"/>
              <a:t>26/06/2023</a:t>
            </a:fld>
            <a:endParaRPr lang="en-GB"/>
          </a:p>
        </p:txBody>
      </p:sp>
      <p:sp>
        <p:nvSpPr>
          <p:cNvPr id="5" name="Footer Placeholder 4">
            <a:extLst>
              <a:ext uri="{FF2B5EF4-FFF2-40B4-BE49-F238E27FC236}">
                <a16:creationId xmlns:a16="http://schemas.microsoft.com/office/drawing/2014/main" id="{E0B46049-83AA-35E4-7655-3336704CB3D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F98797-64E0-49DD-90F6-FC5166F509BB}"/>
              </a:ext>
            </a:extLst>
          </p:cNvPr>
          <p:cNvSpPr>
            <a:spLocks noGrp="1"/>
          </p:cNvSpPr>
          <p:nvPr>
            <p:ph type="sldNum" sz="quarter" idx="12"/>
          </p:nvPr>
        </p:nvSpPr>
        <p:spPr/>
        <p:txBody>
          <a:bodyPr/>
          <a:lstStyle/>
          <a:p>
            <a:fld id="{9C43FC08-3A4F-46A9-BBE8-95B454FC5FB6}" type="slidenum">
              <a:rPr lang="en-GB" smtClean="0"/>
              <a:t>‹#›</a:t>
            </a:fld>
            <a:endParaRPr lang="en-GB"/>
          </a:p>
        </p:txBody>
      </p:sp>
    </p:spTree>
    <p:extLst>
      <p:ext uri="{BB962C8B-B14F-4D97-AF65-F5344CB8AC3E}">
        <p14:creationId xmlns:p14="http://schemas.microsoft.com/office/powerpoint/2010/main" val="659379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D8F8ED-CBE6-636C-E55C-D06D5BEFB6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7EB51229-A68D-AA93-24EC-B062990FF2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B0A29BF-C863-FBB1-B02B-F43FB6F991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D66113-6BA7-4828-99F0-E0FCD0DDD9A0}" type="datetimeFigureOut">
              <a:rPr lang="en-GB" smtClean="0"/>
              <a:t>26/06/2023</a:t>
            </a:fld>
            <a:endParaRPr lang="en-GB"/>
          </a:p>
        </p:txBody>
      </p:sp>
      <p:sp>
        <p:nvSpPr>
          <p:cNvPr id="5" name="Footer Placeholder 4">
            <a:extLst>
              <a:ext uri="{FF2B5EF4-FFF2-40B4-BE49-F238E27FC236}">
                <a16:creationId xmlns:a16="http://schemas.microsoft.com/office/drawing/2014/main" id="{EE7F116E-819B-9068-19D1-551CC0E90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030D813-DFF4-63A5-C166-7DB376E163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43FC08-3A4F-46A9-BBE8-95B454FC5FB6}" type="slidenum">
              <a:rPr lang="en-GB" smtClean="0"/>
              <a:t>‹#›</a:t>
            </a:fld>
            <a:endParaRPr lang="en-GB"/>
          </a:p>
        </p:txBody>
      </p:sp>
    </p:spTree>
    <p:extLst>
      <p:ext uri="{BB962C8B-B14F-4D97-AF65-F5344CB8AC3E}">
        <p14:creationId xmlns:p14="http://schemas.microsoft.com/office/powerpoint/2010/main" val="4128034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v4zujRE98c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80937E5-B54C-D7A0-4CD0-E5DFC4665253}"/>
              </a:ext>
            </a:extLst>
          </p:cNvPr>
          <p:cNvSpPr>
            <a:spLocks noGrp="1"/>
          </p:cNvSpPr>
          <p:nvPr>
            <p:ph type="title"/>
          </p:nvPr>
        </p:nvSpPr>
        <p:spPr>
          <a:xfrm>
            <a:off x="1371597" y="348865"/>
            <a:ext cx="10044023" cy="877729"/>
          </a:xfrm>
        </p:spPr>
        <p:txBody>
          <a:bodyPr anchor="ctr">
            <a:normAutofit/>
          </a:bodyPr>
          <a:lstStyle/>
          <a:p>
            <a:r>
              <a:rPr lang="en-GB" sz="4000" b="1">
                <a:solidFill>
                  <a:srgbClr val="FFFFFF"/>
                </a:solidFill>
              </a:rPr>
              <a:t>Harvard Referencing</a:t>
            </a:r>
          </a:p>
        </p:txBody>
      </p:sp>
      <p:graphicFrame>
        <p:nvGraphicFramePr>
          <p:cNvPr id="7" name="Content Placeholder 2">
            <a:extLst>
              <a:ext uri="{FF2B5EF4-FFF2-40B4-BE49-F238E27FC236}">
                <a16:creationId xmlns:a16="http://schemas.microsoft.com/office/drawing/2014/main" id="{70460A09-5C8E-954C-3E70-30445ECE82A9}"/>
              </a:ext>
            </a:extLst>
          </p:cNvPr>
          <p:cNvGraphicFramePr>
            <a:graphicFrameLocks noGrp="1"/>
          </p:cNvGraphicFramePr>
          <p:nvPr>
            <p:ph idx="1"/>
            <p:extLst>
              <p:ext uri="{D42A27DB-BD31-4B8C-83A1-F6EECF244321}">
                <p14:modId xmlns:p14="http://schemas.microsoft.com/office/powerpoint/2010/main" val="121940537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9529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A96BCB-9A77-D973-EAF1-5D21ED3F29D7}"/>
              </a:ext>
            </a:extLst>
          </p:cNvPr>
          <p:cNvSpPr>
            <a:spLocks noGrp="1"/>
          </p:cNvSpPr>
          <p:nvPr>
            <p:ph type="title"/>
          </p:nvPr>
        </p:nvSpPr>
        <p:spPr>
          <a:xfrm>
            <a:off x="686834" y="1153572"/>
            <a:ext cx="3200400" cy="4461163"/>
          </a:xfrm>
        </p:spPr>
        <p:txBody>
          <a:bodyPr>
            <a:normAutofit/>
          </a:bodyPr>
          <a:lstStyle/>
          <a:p>
            <a:r>
              <a:rPr lang="en-GB" b="1" dirty="0">
                <a:solidFill>
                  <a:srgbClr val="FFFFFF"/>
                </a:solidFill>
                <a:effectLst/>
              </a:rPr>
              <a:t>Why reference?</a:t>
            </a:r>
            <a:endParaRPr lang="en-GB"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2C09DED-3B31-1CAC-62E9-F34DD3ECE1E2}"/>
              </a:ext>
            </a:extLst>
          </p:cNvPr>
          <p:cNvSpPr>
            <a:spLocks noGrp="1"/>
          </p:cNvSpPr>
          <p:nvPr>
            <p:ph idx="1"/>
          </p:nvPr>
        </p:nvSpPr>
        <p:spPr>
          <a:xfrm>
            <a:off x="4447308" y="591344"/>
            <a:ext cx="6906491" cy="5585619"/>
          </a:xfrm>
        </p:spPr>
        <p:txBody>
          <a:bodyPr anchor="ctr">
            <a:normAutofit/>
          </a:bodyPr>
          <a:lstStyle/>
          <a:p>
            <a:pPr eaLnBrk="1" hangingPunct="1"/>
            <a:r>
              <a:rPr lang="en-GB" dirty="0"/>
              <a:t>Demonstrate researched appropriate literature/ undertaken reading </a:t>
            </a:r>
          </a:p>
          <a:p>
            <a:pPr eaLnBrk="1" hangingPunct="1"/>
            <a:r>
              <a:rPr lang="en-GB" dirty="0"/>
              <a:t>Acknowledge used ideas of others (avoid plagiarism)</a:t>
            </a:r>
          </a:p>
          <a:p>
            <a:pPr eaLnBrk="1" hangingPunct="1"/>
            <a:r>
              <a:rPr lang="en-GB" dirty="0"/>
              <a:t>Key to good academic practice</a:t>
            </a:r>
          </a:p>
          <a:p>
            <a:pPr eaLnBrk="1" hangingPunct="1"/>
            <a:r>
              <a:rPr lang="en-GB" dirty="0"/>
              <a:t>Enhances the presentation of your work</a:t>
            </a:r>
          </a:p>
          <a:p>
            <a:pPr eaLnBrk="1" hangingPunct="1"/>
            <a:r>
              <a:rPr lang="en-GB" dirty="0"/>
              <a:t>Shows writing based on knowledge/informed by appropriate academic reading</a:t>
            </a:r>
          </a:p>
          <a:p>
            <a:pPr eaLnBrk="1" hangingPunct="1"/>
            <a:r>
              <a:rPr lang="en-GB" dirty="0"/>
              <a:t>Enables person reading your work to trace source used/give credit for effort/quality</a:t>
            </a:r>
          </a:p>
          <a:p>
            <a:endParaRPr lang="en-GB" dirty="0"/>
          </a:p>
        </p:txBody>
      </p:sp>
    </p:spTree>
    <p:extLst>
      <p:ext uri="{BB962C8B-B14F-4D97-AF65-F5344CB8AC3E}">
        <p14:creationId xmlns:p14="http://schemas.microsoft.com/office/powerpoint/2010/main" val="3700165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DA9269F-7582-7D4A-5B3D-D50E53F36353}"/>
              </a:ext>
            </a:extLst>
          </p:cNvPr>
          <p:cNvSpPr>
            <a:spLocks noGrp="1"/>
          </p:cNvSpPr>
          <p:nvPr>
            <p:ph type="title"/>
          </p:nvPr>
        </p:nvSpPr>
        <p:spPr>
          <a:xfrm>
            <a:off x="838200" y="401221"/>
            <a:ext cx="10515600" cy="1348065"/>
          </a:xfrm>
        </p:spPr>
        <p:txBody>
          <a:bodyPr>
            <a:normAutofit/>
          </a:bodyPr>
          <a:lstStyle/>
          <a:p>
            <a:br>
              <a:rPr lang="en-GB" sz="4200" b="0" i="0" u="none" strike="noStrike" baseline="0" dirty="0">
                <a:solidFill>
                  <a:srgbClr val="FFFFFF"/>
                </a:solidFill>
                <a:latin typeface="Arial" panose="020B0604020202020204" pitchFamily="34" charset="0"/>
              </a:rPr>
            </a:br>
            <a:r>
              <a:rPr lang="en-GB" sz="4200" b="1" i="0" u="none" strike="noStrike" baseline="0" dirty="0">
                <a:solidFill>
                  <a:srgbClr val="FFFFFF"/>
                </a:solidFill>
                <a:latin typeface="Arial" panose="020B0604020202020204" pitchFamily="34" charset="0"/>
              </a:rPr>
              <a:t>What are citing &amp; referencing?</a:t>
            </a:r>
            <a:endParaRPr lang="en-GB" sz="4200" dirty="0">
              <a:solidFill>
                <a:srgbClr val="FFFFFF"/>
              </a:solidFill>
            </a:endParaRPr>
          </a:p>
        </p:txBody>
      </p:sp>
      <p:sp>
        <p:nvSpPr>
          <p:cNvPr id="3" name="Content Placeholder 2">
            <a:extLst>
              <a:ext uri="{FF2B5EF4-FFF2-40B4-BE49-F238E27FC236}">
                <a16:creationId xmlns:a16="http://schemas.microsoft.com/office/drawing/2014/main" id="{E348399D-772A-2CBB-398F-D1706D3E8334}"/>
              </a:ext>
            </a:extLst>
          </p:cNvPr>
          <p:cNvSpPr>
            <a:spLocks noGrp="1"/>
          </p:cNvSpPr>
          <p:nvPr>
            <p:ph idx="1"/>
          </p:nvPr>
        </p:nvSpPr>
        <p:spPr>
          <a:xfrm>
            <a:off x="838200" y="2347414"/>
            <a:ext cx="10515600" cy="4109365"/>
          </a:xfrm>
        </p:spPr>
        <p:txBody>
          <a:bodyPr>
            <a:normAutofit/>
          </a:bodyPr>
          <a:lstStyle/>
          <a:p>
            <a:pPr marL="0" indent="0">
              <a:buNone/>
            </a:pPr>
            <a:r>
              <a:rPr lang="en-GB" sz="2400" b="1" i="0" u="none" strike="noStrike" baseline="0" dirty="0">
                <a:solidFill>
                  <a:schemeClr val="accent2"/>
                </a:solidFill>
                <a:latin typeface="Arial" panose="020B0604020202020204" pitchFamily="34" charset="0"/>
              </a:rPr>
              <a:t>Citing</a:t>
            </a:r>
            <a:r>
              <a:rPr lang="en-GB" sz="2400" b="1" i="0" u="none" strike="noStrike" baseline="0" dirty="0">
                <a:latin typeface="Arial" panose="020B0604020202020204" pitchFamily="34" charset="0"/>
              </a:rPr>
              <a:t> </a:t>
            </a:r>
            <a:endParaRPr lang="en-GB" sz="2400" b="0" i="0" u="none" strike="noStrike" baseline="0" dirty="0">
              <a:latin typeface="Arial" panose="020B0604020202020204" pitchFamily="34" charset="0"/>
            </a:endParaRPr>
          </a:p>
          <a:p>
            <a:r>
              <a:rPr lang="en-GB" sz="2400" b="0" i="0" u="none" strike="noStrike" baseline="0" dirty="0">
                <a:latin typeface="Arial" panose="020B0604020202020204" pitchFamily="34" charset="0"/>
              </a:rPr>
              <a:t>notating when you quote, paraphrase, use an idea, or summarise from someone else </a:t>
            </a:r>
          </a:p>
          <a:p>
            <a:r>
              <a:rPr lang="en-GB" sz="2400" b="0" i="0" u="none" strike="noStrike" baseline="0" dirty="0">
                <a:latin typeface="Arial" panose="020B0604020202020204" pitchFamily="34" charset="0"/>
              </a:rPr>
              <a:t>gives the reader the original source </a:t>
            </a:r>
          </a:p>
          <a:p>
            <a:endParaRPr lang="en-GB" sz="2200" b="0" i="0" u="none" strike="noStrike" baseline="0" dirty="0">
              <a:latin typeface="Arial" panose="020B0604020202020204" pitchFamily="34" charset="0"/>
            </a:endParaRPr>
          </a:p>
          <a:p>
            <a:pPr marL="0" indent="0">
              <a:buNone/>
            </a:pPr>
            <a:r>
              <a:rPr lang="en-GB" sz="2400" b="1" dirty="0">
                <a:solidFill>
                  <a:schemeClr val="accent2"/>
                </a:solidFill>
                <a:latin typeface="Arial" panose="020B0604020202020204" pitchFamily="34" charset="0"/>
              </a:rPr>
              <a:t>Referencing</a:t>
            </a:r>
            <a:r>
              <a:rPr lang="en-GB" sz="2400" b="1" i="0" u="none" strike="noStrike" baseline="0" dirty="0">
                <a:solidFill>
                  <a:schemeClr val="accent2"/>
                </a:solidFill>
                <a:latin typeface="Arial" panose="020B0604020202020204" pitchFamily="34" charset="0"/>
              </a:rPr>
              <a:t> </a:t>
            </a:r>
            <a:endParaRPr lang="en-GB" sz="2400" b="0" i="0" u="none" strike="noStrike" baseline="0" dirty="0">
              <a:solidFill>
                <a:schemeClr val="accent2"/>
              </a:solidFill>
              <a:latin typeface="Arial" panose="020B0604020202020204" pitchFamily="34" charset="0"/>
            </a:endParaRPr>
          </a:p>
          <a:p>
            <a:r>
              <a:rPr lang="en-GB" sz="2400" b="0" i="0" u="none" strike="noStrike" baseline="0" dirty="0">
                <a:latin typeface="Arial" panose="020B0604020202020204" pitchFamily="34" charset="0"/>
              </a:rPr>
              <a:t>creating a list of sources you have cited </a:t>
            </a:r>
          </a:p>
          <a:p>
            <a:r>
              <a:rPr lang="en-GB" sz="2400" b="0" i="0" u="none" strike="noStrike" baseline="0" dirty="0">
                <a:latin typeface="Arial" panose="020B0604020202020204" pitchFamily="34" charset="0"/>
              </a:rPr>
              <a:t>different from a bibliography, which also includes sources you read but did not use directly in writing your text </a:t>
            </a:r>
          </a:p>
          <a:p>
            <a:endParaRPr lang="en-GB" sz="2200" dirty="0"/>
          </a:p>
        </p:txBody>
      </p:sp>
    </p:spTree>
    <p:extLst>
      <p:ext uri="{BB962C8B-B14F-4D97-AF65-F5344CB8AC3E}">
        <p14:creationId xmlns:p14="http://schemas.microsoft.com/office/powerpoint/2010/main" val="1031535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C8D44C2-E554-B3CC-CB0C-EDC312647BB8}"/>
              </a:ext>
            </a:extLst>
          </p:cNvPr>
          <p:cNvSpPr>
            <a:spLocks noGrp="1"/>
          </p:cNvSpPr>
          <p:nvPr>
            <p:ph type="title"/>
          </p:nvPr>
        </p:nvSpPr>
        <p:spPr>
          <a:xfrm>
            <a:off x="1115568" y="548640"/>
            <a:ext cx="10168128" cy="1179576"/>
          </a:xfrm>
        </p:spPr>
        <p:txBody>
          <a:bodyPr>
            <a:normAutofit/>
          </a:bodyPr>
          <a:lstStyle/>
          <a:p>
            <a:r>
              <a:rPr lang="en-GB" sz="4000" b="1" dirty="0"/>
              <a:t>When and what to cite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BB1C4EC-D46A-743D-BE08-9018BF40B5EA}"/>
              </a:ext>
            </a:extLst>
          </p:cNvPr>
          <p:cNvSpPr>
            <a:spLocks noGrp="1"/>
          </p:cNvSpPr>
          <p:nvPr>
            <p:ph idx="1"/>
          </p:nvPr>
        </p:nvSpPr>
        <p:spPr>
          <a:xfrm>
            <a:off x="1115568" y="2276856"/>
            <a:ext cx="10168128" cy="3966983"/>
          </a:xfrm>
        </p:spPr>
        <p:txBody>
          <a:bodyPr>
            <a:noAutofit/>
          </a:bodyPr>
          <a:lstStyle/>
          <a:p>
            <a:pPr marL="0" indent="0">
              <a:buNone/>
            </a:pPr>
            <a:r>
              <a:rPr lang="en-GB" b="0" i="0" u="none" strike="noStrike" baseline="0" dirty="0">
                <a:latin typeface="Arial" panose="020B0604020202020204" pitchFamily="34" charset="0"/>
              </a:rPr>
              <a:t>Within &amp; at the end of the text when you use ideas from, or refer to, another person’s work. </a:t>
            </a:r>
          </a:p>
          <a:p>
            <a:pPr marL="0" indent="0">
              <a:buNone/>
            </a:pPr>
            <a:r>
              <a:rPr lang="en-GB" b="1" i="0" u="none" strike="noStrike" baseline="0" dirty="0">
                <a:solidFill>
                  <a:schemeClr val="accent2"/>
                </a:solidFill>
                <a:latin typeface="Arial" panose="020B0604020202020204" pitchFamily="34" charset="0"/>
              </a:rPr>
              <a:t>Applies to:</a:t>
            </a:r>
            <a:r>
              <a:rPr lang="en-GB" b="1" i="0" u="none" strike="noStrike" baseline="0" dirty="0">
                <a:latin typeface="Arial" panose="020B0604020202020204" pitchFamily="34" charset="0"/>
              </a:rPr>
              <a:t> </a:t>
            </a:r>
          </a:p>
          <a:p>
            <a:pPr marL="0" indent="0">
              <a:buNone/>
            </a:pPr>
            <a:r>
              <a:rPr lang="en-GB" b="0" i="0" u="none" strike="noStrike" baseline="0" dirty="0">
                <a:latin typeface="Arial" panose="020B0604020202020204" pitchFamily="34" charset="0"/>
              </a:rPr>
              <a:t>facts, figures, ideas &amp; theories </a:t>
            </a:r>
          </a:p>
          <a:p>
            <a:pPr marL="0" indent="0">
              <a:buNone/>
            </a:pPr>
            <a:r>
              <a:rPr lang="en-GB" b="1" i="0" u="none" strike="noStrike" baseline="0" dirty="0">
                <a:solidFill>
                  <a:schemeClr val="accent2"/>
                </a:solidFill>
                <a:latin typeface="Arial" panose="020B0604020202020204" pitchFamily="34" charset="0"/>
              </a:rPr>
              <a:t>From: </a:t>
            </a:r>
          </a:p>
          <a:p>
            <a:pPr marL="0" indent="0">
              <a:buNone/>
            </a:pPr>
            <a:r>
              <a:rPr lang="en-GB" b="0" i="0" u="none" strike="noStrike" baseline="0" dirty="0">
                <a:latin typeface="Arial" panose="020B0604020202020204" pitchFamily="34" charset="0"/>
              </a:rPr>
              <a:t>books, journals, internet, videos, lecture notes etc. </a:t>
            </a:r>
          </a:p>
          <a:p>
            <a:pPr marL="0" indent="0">
              <a:buNone/>
            </a:pPr>
            <a:r>
              <a:rPr lang="en-GB" b="1" i="0" u="none" strike="noStrike" baseline="0" dirty="0">
                <a:solidFill>
                  <a:schemeClr val="accent2"/>
                </a:solidFill>
                <a:latin typeface="Arial" panose="020B0604020202020204" pitchFamily="34" charset="0"/>
              </a:rPr>
              <a:t>Exception:</a:t>
            </a:r>
            <a:r>
              <a:rPr lang="en-GB" b="1" i="0" u="none" strike="noStrike" baseline="0" dirty="0">
                <a:latin typeface="Arial" panose="020B0604020202020204" pitchFamily="34" charset="0"/>
              </a:rPr>
              <a:t> </a:t>
            </a:r>
          </a:p>
          <a:p>
            <a:pPr marL="0" indent="0">
              <a:buNone/>
            </a:pPr>
            <a:r>
              <a:rPr lang="en-GB" b="0" i="0" u="none" strike="noStrike" baseline="0" dirty="0">
                <a:latin typeface="Arial" panose="020B0604020202020204" pitchFamily="34" charset="0"/>
              </a:rPr>
              <a:t>common knowledge </a:t>
            </a:r>
            <a:endParaRPr lang="en-GB" dirty="0"/>
          </a:p>
        </p:txBody>
      </p:sp>
    </p:spTree>
    <p:extLst>
      <p:ext uri="{BB962C8B-B14F-4D97-AF65-F5344CB8AC3E}">
        <p14:creationId xmlns:p14="http://schemas.microsoft.com/office/powerpoint/2010/main" val="893012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48A0A4-305D-4AEF-C7FC-DEA65CA5C27F}"/>
              </a:ext>
            </a:extLst>
          </p:cNvPr>
          <p:cNvSpPr>
            <a:spLocks noGrp="1"/>
          </p:cNvSpPr>
          <p:nvPr>
            <p:ph type="title"/>
          </p:nvPr>
        </p:nvSpPr>
        <p:spPr>
          <a:xfrm>
            <a:off x="838200" y="365125"/>
            <a:ext cx="10515600" cy="1325563"/>
          </a:xfrm>
        </p:spPr>
        <p:txBody>
          <a:bodyPr>
            <a:normAutofit/>
          </a:bodyPr>
          <a:lstStyle/>
          <a:p>
            <a:r>
              <a:rPr lang="en-GB" sz="5400" b="1" dirty="0"/>
              <a:t>Citing references in your report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1DEF5B4-90EA-F348-9321-57E21F691EB6}"/>
              </a:ext>
            </a:extLst>
          </p:cNvPr>
          <p:cNvSpPr>
            <a:spLocks noGrp="1"/>
          </p:cNvSpPr>
          <p:nvPr>
            <p:ph idx="1"/>
          </p:nvPr>
        </p:nvSpPr>
        <p:spPr>
          <a:xfrm>
            <a:off x="838200" y="1929384"/>
            <a:ext cx="10515600" cy="4251960"/>
          </a:xfrm>
        </p:spPr>
        <p:txBody>
          <a:bodyPr>
            <a:normAutofit/>
          </a:bodyPr>
          <a:lstStyle/>
          <a:p>
            <a:pPr marL="0" indent="0">
              <a:buNone/>
            </a:pPr>
            <a:r>
              <a:rPr lang="en-GB" sz="2200" dirty="0"/>
              <a:t>There are several ways this can be done, for example:</a:t>
            </a:r>
          </a:p>
          <a:p>
            <a:pPr marL="0" indent="0">
              <a:buNone/>
            </a:pPr>
            <a:r>
              <a:rPr lang="en-GB" sz="2200" dirty="0">
                <a:effectLst/>
                <a:ea typeface="Times New Roman" panose="02020603050405020304" pitchFamily="18" charset="0"/>
              </a:rPr>
              <a:t>	The concept of ‘logical malleability’ conveys the idea of computers being modelled 	based on user interaction and resultant output (Moor, 1985).</a:t>
            </a:r>
            <a:r>
              <a:rPr lang="en-GB" sz="2200" i="0" dirty="0">
                <a:effectLst/>
                <a:ea typeface="Times New Roman" panose="02020603050405020304" pitchFamily="18" charset="0"/>
              </a:rPr>
              <a:t> </a:t>
            </a:r>
            <a:endParaRPr lang="en-GB" sz="2200" dirty="0">
              <a:effectLst/>
              <a:ea typeface="Times New Roman" panose="02020603050405020304" pitchFamily="18" charset="0"/>
            </a:endParaRPr>
          </a:p>
          <a:p>
            <a:pPr marL="0" indent="0">
              <a:buNone/>
            </a:pPr>
            <a:r>
              <a:rPr lang="en-GB" sz="2200" i="0" dirty="0">
                <a:effectLst/>
                <a:ea typeface="Times New Roman" panose="02020603050405020304" pitchFamily="18" charset="0"/>
              </a:rPr>
              <a:t>    or, you could paraphrase what Moor says, e.g.</a:t>
            </a:r>
            <a:endParaRPr lang="en-GB" sz="2200" dirty="0">
              <a:effectLst/>
              <a:ea typeface="Times New Roman" panose="02020603050405020304" pitchFamily="18" charset="0"/>
            </a:endParaRPr>
          </a:p>
          <a:p>
            <a:pPr indent="0">
              <a:buNone/>
            </a:pPr>
            <a:r>
              <a:rPr lang="en-GB" sz="2200" dirty="0">
                <a:effectLst/>
                <a:ea typeface="Times New Roman" panose="02020603050405020304" pitchFamily="18" charset="0"/>
              </a:rPr>
              <a:t>	Moor (1985) talks about the concept of ‘logical malleability’ that conveys the idea 	of computers being modelled based on user interaction and resultant output.</a:t>
            </a:r>
            <a:r>
              <a:rPr lang="en-GB" sz="2200" i="0" dirty="0">
                <a:effectLst/>
                <a:ea typeface="Times New Roman" panose="02020603050405020304" pitchFamily="18" charset="0"/>
              </a:rPr>
              <a:t> </a:t>
            </a:r>
          </a:p>
          <a:p>
            <a:pPr indent="0">
              <a:buNone/>
            </a:pPr>
            <a:r>
              <a:rPr lang="en-GB" sz="2200" dirty="0">
                <a:effectLst/>
                <a:ea typeface="Times New Roman" panose="02020603050405020304" pitchFamily="18" charset="0"/>
              </a:rPr>
              <a:t>or, using quotes, e.g.</a:t>
            </a:r>
          </a:p>
          <a:p>
            <a:pPr indent="0">
              <a:buNone/>
            </a:pPr>
            <a:r>
              <a:rPr lang="en-GB" sz="2200" dirty="0">
                <a:effectLst/>
                <a:ea typeface="Times New Roman" panose="02020603050405020304" pitchFamily="18" charset="0"/>
              </a:rPr>
              <a:t>	It was James Moor (1985) who asserted that computers are ‘logically malleable’ in 	the sense that "they can be shaped and moulded to do any activity that can  be 	characterised in terms  of inputs, outputs, and connecting logical operations."</a:t>
            </a:r>
          </a:p>
          <a:p>
            <a:endParaRPr lang="en-GB" sz="2200" dirty="0"/>
          </a:p>
        </p:txBody>
      </p:sp>
    </p:spTree>
    <p:extLst>
      <p:ext uri="{BB962C8B-B14F-4D97-AF65-F5344CB8AC3E}">
        <p14:creationId xmlns:p14="http://schemas.microsoft.com/office/powerpoint/2010/main" val="2609930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D6A08-16CC-41C4-6F02-75C51E5DBCC1}"/>
              </a:ext>
            </a:extLst>
          </p:cNvPr>
          <p:cNvSpPr>
            <a:spLocks noGrp="1"/>
          </p:cNvSpPr>
          <p:nvPr>
            <p:ph type="title"/>
          </p:nvPr>
        </p:nvSpPr>
        <p:spPr/>
        <p:txBody>
          <a:bodyPr/>
          <a:lstStyle/>
          <a:p>
            <a:r>
              <a:rPr lang="en-GB" b="1" dirty="0"/>
              <a:t>Reference List (at end of your report)</a:t>
            </a:r>
          </a:p>
        </p:txBody>
      </p:sp>
      <p:sp>
        <p:nvSpPr>
          <p:cNvPr id="3" name="Content Placeholder 2">
            <a:extLst>
              <a:ext uri="{FF2B5EF4-FFF2-40B4-BE49-F238E27FC236}">
                <a16:creationId xmlns:a16="http://schemas.microsoft.com/office/drawing/2014/main" id="{32DBED20-79FC-19C6-8D4B-1F16DDE22DE1}"/>
              </a:ext>
            </a:extLst>
          </p:cNvPr>
          <p:cNvSpPr>
            <a:spLocks noGrp="1"/>
          </p:cNvSpPr>
          <p:nvPr>
            <p:ph idx="1"/>
          </p:nvPr>
        </p:nvSpPr>
        <p:spPr/>
        <p:txBody>
          <a:bodyPr>
            <a:normAutofit/>
          </a:bodyPr>
          <a:lstStyle/>
          <a:p>
            <a:pPr marL="0" indent="0">
              <a:buNone/>
            </a:pPr>
            <a:r>
              <a:rPr lang="en-GB" sz="2400" dirty="0">
                <a:solidFill>
                  <a:schemeClr val="accent2"/>
                </a:solidFill>
              </a:rPr>
              <a:t>Author with multiple initials; print book, with statement for subsequent edition</a:t>
            </a:r>
          </a:p>
          <a:p>
            <a:pPr marL="0" indent="0">
              <a:buNone/>
            </a:pPr>
            <a:r>
              <a:rPr lang="en-GB" sz="2400" dirty="0"/>
              <a:t>Barker, P.J. (2009) Psychiatric and Mental Health Nursing: the Craft of Caring. 2nd ed. London: Hodder Arnold.</a:t>
            </a:r>
          </a:p>
          <a:p>
            <a:pPr marL="0" indent="0">
              <a:buNone/>
            </a:pPr>
            <a:endParaRPr lang="en-GB" sz="2400" dirty="0"/>
          </a:p>
          <a:p>
            <a:pPr marL="0" indent="0">
              <a:buNone/>
            </a:pPr>
            <a:r>
              <a:rPr lang="en-GB" sz="2400" dirty="0">
                <a:solidFill>
                  <a:schemeClr val="accent2"/>
                </a:solidFill>
              </a:rPr>
              <a:t>Two authors; electronic journal article from a restricted source (name of collection provided) </a:t>
            </a:r>
          </a:p>
          <a:p>
            <a:pPr marL="0" indent="0">
              <a:buNone/>
            </a:pPr>
            <a:r>
              <a:rPr lang="en-GB" sz="2400" dirty="0"/>
              <a:t>Durkin, K and Main, A. (2002) Discipline-based study skills support for first-year undergraduate students. Active Learning in Higher Education. [Online] Vol.3(1) pp.24-39. Available: SAGE Journals Online [Accessed: 21 September 2010].</a:t>
            </a:r>
          </a:p>
        </p:txBody>
      </p:sp>
    </p:spTree>
    <p:extLst>
      <p:ext uri="{BB962C8B-B14F-4D97-AF65-F5344CB8AC3E}">
        <p14:creationId xmlns:p14="http://schemas.microsoft.com/office/powerpoint/2010/main" val="2348884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D6A08-16CC-41C4-6F02-75C51E5DBCC1}"/>
              </a:ext>
            </a:extLst>
          </p:cNvPr>
          <p:cNvSpPr>
            <a:spLocks noGrp="1"/>
          </p:cNvSpPr>
          <p:nvPr>
            <p:ph type="title"/>
          </p:nvPr>
        </p:nvSpPr>
        <p:spPr/>
        <p:txBody>
          <a:bodyPr/>
          <a:lstStyle/>
          <a:p>
            <a:r>
              <a:rPr lang="en-GB" b="1" dirty="0"/>
              <a:t>Reference List (at end of your report)</a:t>
            </a:r>
          </a:p>
        </p:txBody>
      </p:sp>
      <p:sp>
        <p:nvSpPr>
          <p:cNvPr id="3" name="Content Placeholder 2">
            <a:extLst>
              <a:ext uri="{FF2B5EF4-FFF2-40B4-BE49-F238E27FC236}">
                <a16:creationId xmlns:a16="http://schemas.microsoft.com/office/drawing/2014/main" id="{32DBED20-79FC-19C6-8D4B-1F16DDE22DE1}"/>
              </a:ext>
            </a:extLst>
          </p:cNvPr>
          <p:cNvSpPr>
            <a:spLocks noGrp="1"/>
          </p:cNvSpPr>
          <p:nvPr>
            <p:ph idx="1"/>
          </p:nvPr>
        </p:nvSpPr>
        <p:spPr/>
        <p:txBody>
          <a:bodyPr>
            <a:normAutofit/>
          </a:bodyPr>
          <a:lstStyle/>
          <a:p>
            <a:pPr marL="0" indent="0">
              <a:buNone/>
            </a:pPr>
            <a:r>
              <a:rPr lang="en-GB" sz="2400" dirty="0">
                <a:solidFill>
                  <a:schemeClr val="accent2"/>
                </a:solidFill>
              </a:rPr>
              <a:t>Website from a public source (URL provided) with alternative for the missing date  </a:t>
            </a:r>
          </a:p>
          <a:p>
            <a:pPr marL="0" indent="0">
              <a:buNone/>
            </a:pPr>
            <a:r>
              <a:rPr lang="en-GB" sz="2400" dirty="0"/>
              <a:t>Greenhow, M. (n.d.) Study Skills Online. Version 1.10 [Online] Available: http://www.brunel.ac.uk/~mastmmg/ssguide/sshome.htm [Accessed: 11 July 2013].</a:t>
            </a:r>
          </a:p>
          <a:p>
            <a:pPr marL="0" indent="0">
              <a:buNone/>
            </a:pPr>
            <a:endParaRPr lang="en-GB" sz="2400" dirty="0">
              <a:solidFill>
                <a:schemeClr val="accent2"/>
              </a:solidFill>
            </a:endParaRPr>
          </a:p>
          <a:p>
            <a:pPr marL="0" indent="0">
              <a:buNone/>
            </a:pPr>
            <a:r>
              <a:rPr lang="en-GB" sz="2400" dirty="0">
                <a:solidFill>
                  <a:schemeClr val="accent2"/>
                </a:solidFill>
              </a:rPr>
              <a:t>Print journal article with journal title (larger item) underlined</a:t>
            </a:r>
          </a:p>
          <a:p>
            <a:pPr marL="0" indent="0">
              <a:buNone/>
            </a:pPr>
            <a:r>
              <a:rPr lang="en-GB" sz="2400" dirty="0"/>
              <a:t>Hall, A. and Palmer, E. (2015) Designing research-informed resources for more effective practical work. School Science Review. Vol.96(356), pp.99-106.</a:t>
            </a:r>
          </a:p>
        </p:txBody>
      </p:sp>
    </p:spTree>
    <p:extLst>
      <p:ext uri="{BB962C8B-B14F-4D97-AF65-F5344CB8AC3E}">
        <p14:creationId xmlns:p14="http://schemas.microsoft.com/office/powerpoint/2010/main" val="2791761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D6A08-16CC-41C4-6F02-75C51E5DBCC1}"/>
              </a:ext>
            </a:extLst>
          </p:cNvPr>
          <p:cNvSpPr>
            <a:spLocks noGrp="1"/>
          </p:cNvSpPr>
          <p:nvPr>
            <p:ph type="title"/>
          </p:nvPr>
        </p:nvSpPr>
        <p:spPr/>
        <p:txBody>
          <a:bodyPr/>
          <a:lstStyle/>
          <a:p>
            <a:r>
              <a:rPr lang="en-GB" b="1" dirty="0"/>
              <a:t>Reference List (at end of your report)</a:t>
            </a:r>
          </a:p>
        </p:txBody>
      </p:sp>
      <p:sp>
        <p:nvSpPr>
          <p:cNvPr id="3" name="Content Placeholder 2">
            <a:extLst>
              <a:ext uri="{FF2B5EF4-FFF2-40B4-BE49-F238E27FC236}">
                <a16:creationId xmlns:a16="http://schemas.microsoft.com/office/drawing/2014/main" id="{32DBED20-79FC-19C6-8D4B-1F16DDE22DE1}"/>
              </a:ext>
            </a:extLst>
          </p:cNvPr>
          <p:cNvSpPr>
            <a:spLocks noGrp="1"/>
          </p:cNvSpPr>
          <p:nvPr>
            <p:ph idx="1"/>
          </p:nvPr>
        </p:nvSpPr>
        <p:spPr/>
        <p:txBody>
          <a:bodyPr>
            <a:normAutofit/>
          </a:bodyPr>
          <a:lstStyle/>
          <a:p>
            <a:pPr marL="0" indent="0">
              <a:buNone/>
            </a:pPr>
            <a:r>
              <a:rPr lang="en-GB" sz="2400" dirty="0">
                <a:solidFill>
                  <a:schemeClr val="accent2"/>
                </a:solidFill>
              </a:rPr>
              <a:t>Electronic newspaper article from a public source (URL provided)#</a:t>
            </a:r>
          </a:p>
          <a:p>
            <a:pPr marL="0" indent="0">
              <a:buNone/>
            </a:pPr>
            <a:r>
              <a:rPr lang="en-GB" sz="2400" dirty="0"/>
              <a:t>Tamblyn, T. (2015) New technology could make aeroplane cabins 100x quieter. Huffington Post UK [Online] Available: http://www.huffingtonpost.co.uk/2015/04/28/new-technology-could-make-aeroplane-cabins-100x-quieter_n_7159380.html?utm_hp_ref=uk [Accessed: 28 April 2015].</a:t>
            </a:r>
            <a:endParaRPr lang="en-GB" sz="2400" dirty="0">
              <a:solidFill>
                <a:schemeClr val="accent2"/>
              </a:solidFill>
            </a:endParaRPr>
          </a:p>
        </p:txBody>
      </p:sp>
    </p:spTree>
    <p:extLst>
      <p:ext uri="{BB962C8B-B14F-4D97-AF65-F5344CB8AC3E}">
        <p14:creationId xmlns:p14="http://schemas.microsoft.com/office/powerpoint/2010/main" val="3703433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872266-084F-2989-0E3B-C637CFC6F7BA}"/>
              </a:ext>
            </a:extLst>
          </p:cNvPr>
          <p:cNvSpPr>
            <a:spLocks noGrp="1"/>
          </p:cNvSpPr>
          <p:nvPr>
            <p:ph type="title"/>
          </p:nvPr>
        </p:nvSpPr>
        <p:spPr>
          <a:xfrm>
            <a:off x="1171074" y="1396686"/>
            <a:ext cx="3240506" cy="4064628"/>
          </a:xfrm>
        </p:spPr>
        <p:txBody>
          <a:bodyPr>
            <a:normAutofit/>
          </a:bodyPr>
          <a:lstStyle/>
          <a:p>
            <a:br>
              <a:rPr lang="en-GB" sz="3700" b="0" i="0" u="none" strike="noStrike" baseline="0">
                <a:solidFill>
                  <a:srgbClr val="FFFFFF"/>
                </a:solidFill>
                <a:latin typeface="Arial" panose="020B0604020202020204" pitchFamily="34" charset="0"/>
              </a:rPr>
            </a:br>
            <a:r>
              <a:rPr lang="en-GB" sz="3700" b="1" i="0" u="none" strike="noStrike" baseline="0">
                <a:solidFill>
                  <a:srgbClr val="FFFFFF"/>
                </a:solidFill>
                <a:latin typeface="Arial" panose="020B0604020202020204" pitchFamily="34" charset="0"/>
              </a:rPr>
              <a:t>Reference management tools </a:t>
            </a:r>
            <a:endParaRPr lang="en-GB" sz="3700">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B74088B-9655-0F6A-A0BD-EF239457A558}"/>
              </a:ext>
            </a:extLst>
          </p:cNvPr>
          <p:cNvSpPr>
            <a:spLocks noGrp="1"/>
          </p:cNvSpPr>
          <p:nvPr>
            <p:ph idx="1"/>
          </p:nvPr>
        </p:nvSpPr>
        <p:spPr>
          <a:xfrm>
            <a:off x="5370153" y="1526033"/>
            <a:ext cx="5911799" cy="4619938"/>
          </a:xfrm>
        </p:spPr>
        <p:txBody>
          <a:bodyPr>
            <a:normAutofit/>
          </a:bodyPr>
          <a:lstStyle/>
          <a:p>
            <a:endParaRPr lang="en-GB" sz="2200" b="0" i="0" u="none" strike="noStrike" baseline="0" dirty="0">
              <a:latin typeface="Arial" panose="020B0604020202020204" pitchFamily="34" charset="0"/>
            </a:endParaRPr>
          </a:p>
          <a:p>
            <a:pPr marL="0" indent="0">
              <a:buNone/>
            </a:pPr>
            <a:r>
              <a:rPr lang="en-GB" sz="2400" b="0" i="0" u="none" strike="noStrike" baseline="0" dirty="0">
                <a:latin typeface="Arial" panose="020B0604020202020204" pitchFamily="34" charset="0"/>
              </a:rPr>
              <a:t>Could help you be consistent and accurate when citing by: </a:t>
            </a:r>
          </a:p>
          <a:p>
            <a:pPr marL="0" indent="0">
              <a:buNone/>
            </a:pPr>
            <a:endParaRPr lang="en-GB" sz="2400" b="0" i="0" u="none" strike="noStrike" baseline="0" dirty="0">
              <a:latin typeface="Arial" panose="020B0604020202020204" pitchFamily="34" charset="0"/>
            </a:endParaRPr>
          </a:p>
          <a:p>
            <a:r>
              <a:rPr lang="en-GB" sz="2400" b="1" i="0" u="none" strike="noStrike" baseline="0" dirty="0">
                <a:latin typeface="Arial" panose="020B0604020202020204" pitchFamily="34" charset="0"/>
              </a:rPr>
              <a:t>storing and organising </a:t>
            </a:r>
            <a:r>
              <a:rPr lang="en-GB" sz="2400" b="0" i="0" u="none" strike="noStrike" baseline="0" dirty="0">
                <a:latin typeface="Arial" panose="020B0604020202020204" pitchFamily="34" charset="0"/>
              </a:rPr>
              <a:t>your references </a:t>
            </a:r>
          </a:p>
          <a:p>
            <a:r>
              <a:rPr lang="en-GB" sz="2400" b="0" i="0" u="none" strike="noStrike" baseline="0" dirty="0">
                <a:latin typeface="Arial" panose="020B0604020202020204" pitchFamily="34" charset="0"/>
              </a:rPr>
              <a:t>…and </a:t>
            </a:r>
            <a:r>
              <a:rPr lang="en-GB" sz="2400" b="1" i="0" u="none" strike="noStrike" baseline="0" dirty="0">
                <a:latin typeface="Arial" panose="020B0604020202020204" pitchFamily="34" charset="0"/>
              </a:rPr>
              <a:t>building a reference list </a:t>
            </a:r>
            <a:r>
              <a:rPr lang="en-GB" sz="2400" b="0" i="0" u="none" strike="noStrike" baseline="0" dirty="0">
                <a:latin typeface="Arial" panose="020B0604020202020204" pitchFamily="34" charset="0"/>
              </a:rPr>
              <a:t>as you write your text. </a:t>
            </a:r>
          </a:p>
          <a:p>
            <a:endParaRPr lang="en-GB" sz="2400" b="0" i="0" u="none" strike="noStrike" baseline="0" dirty="0">
              <a:latin typeface="Arial" panose="020B0604020202020204" pitchFamily="34" charset="0"/>
            </a:endParaRPr>
          </a:p>
          <a:p>
            <a:r>
              <a:rPr lang="en-GB" sz="2400" b="0" i="0" u="none" strike="noStrike" baseline="0" dirty="0">
                <a:latin typeface="Arial" panose="020B0604020202020204" pitchFamily="34" charset="0"/>
              </a:rPr>
              <a:t>E.g. </a:t>
            </a:r>
            <a:r>
              <a:rPr lang="en-GB" sz="2400" i="0" u="none" strike="noStrike" baseline="0" dirty="0">
                <a:latin typeface="Arial" panose="020B0604020202020204" pitchFamily="34" charset="0"/>
              </a:rPr>
              <a:t>EndNote</a:t>
            </a:r>
            <a:r>
              <a:rPr lang="en-GB" sz="2400" b="0" i="0" u="none" strike="noStrike" baseline="0" dirty="0">
                <a:latin typeface="Arial" panose="020B0604020202020204" pitchFamily="34" charset="0"/>
              </a:rPr>
              <a:t>, </a:t>
            </a:r>
            <a:r>
              <a:rPr lang="en-GB" sz="2400" b="0" i="0" u="none" strike="noStrike" baseline="0" dirty="0">
                <a:latin typeface="Arial" panose="020B0604020202020204" pitchFamily="34" charset="0"/>
                <a:hlinkClick r:id="rId2"/>
              </a:rPr>
              <a:t>Zotero</a:t>
            </a:r>
            <a:r>
              <a:rPr lang="en-GB" sz="2400" b="0" i="0" u="none" strike="noStrike" baseline="0" dirty="0">
                <a:latin typeface="Arial" panose="020B0604020202020204" pitchFamily="34" charset="0"/>
              </a:rPr>
              <a:t>, Mendeley, </a:t>
            </a:r>
            <a:r>
              <a:rPr lang="en-GB" sz="2400" b="0" i="0" u="none" strike="noStrike" baseline="0" dirty="0" err="1">
                <a:latin typeface="Arial" panose="020B0604020202020204" pitchFamily="34" charset="0"/>
              </a:rPr>
              <a:t>RefME</a:t>
            </a:r>
            <a:r>
              <a:rPr lang="en-GB" sz="2400" b="0" i="0" u="none" strike="noStrike" baseline="0" dirty="0">
                <a:latin typeface="Arial" panose="020B0604020202020204" pitchFamily="34" charset="0"/>
              </a:rPr>
              <a:t> </a:t>
            </a:r>
          </a:p>
          <a:p>
            <a:endParaRPr lang="en-GB" sz="2200" dirty="0"/>
          </a:p>
        </p:txBody>
      </p:sp>
    </p:spTree>
    <p:extLst>
      <p:ext uri="{BB962C8B-B14F-4D97-AF65-F5344CB8AC3E}">
        <p14:creationId xmlns:p14="http://schemas.microsoft.com/office/powerpoint/2010/main" val="3482544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687</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Harvard Referencing</vt:lpstr>
      <vt:lpstr>Why reference?</vt:lpstr>
      <vt:lpstr> What are citing &amp; referencing?</vt:lpstr>
      <vt:lpstr>When and what to cite</vt:lpstr>
      <vt:lpstr>Citing references in your report</vt:lpstr>
      <vt:lpstr>Reference List (at end of your report)</vt:lpstr>
      <vt:lpstr>Reference List (at end of your report)</vt:lpstr>
      <vt:lpstr>Reference List (at end of your report)</vt:lpstr>
      <vt:lpstr> Reference management tools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reference?</dc:title>
  <dc:creator>bikrant koirala</dc:creator>
  <cp:lastModifiedBy>bikrant koirala</cp:lastModifiedBy>
  <cp:revision>6</cp:revision>
  <dcterms:created xsi:type="dcterms:W3CDTF">2023-06-26T11:44:32Z</dcterms:created>
  <dcterms:modified xsi:type="dcterms:W3CDTF">2023-06-26T21:49:23Z</dcterms:modified>
</cp:coreProperties>
</file>